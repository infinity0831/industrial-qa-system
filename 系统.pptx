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092290" r:id="rId3"/>
    <p:sldId id="11092292" r:id="rId5"/>
    <p:sldId id="1109229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BA5"/>
    <a:srgbClr val="8F96AC"/>
    <a:srgbClr val="8F97AC"/>
    <a:srgbClr val="D9D9D9"/>
    <a:srgbClr val="989FB2"/>
    <a:srgbClr val="324273"/>
    <a:srgbClr val="CBCCD1"/>
    <a:srgbClr val="D2D2D4"/>
    <a:srgbClr val="9298AB"/>
    <a:srgbClr val="0AAB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768" autoAdjust="0"/>
  </p:normalViewPr>
  <p:slideViewPr>
    <p:cSldViewPr snapToGrid="0">
      <p:cViewPr varScale="1">
        <p:scale>
          <a:sx n="103" d="100"/>
          <a:sy n="103" d="100"/>
        </p:scale>
        <p:origin x="24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D3EC1-CF90-48E5-9DDF-DC0D3C87E1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8BFCF-0EFA-488D-BEA2-49C0CDCDBC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19E15B-3354-4A5F-89FC-038B75E63F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19E15B-3354-4A5F-89FC-038B75E63F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19E15B-3354-4A5F-89FC-038B75E63F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7622041" y="991461"/>
            <a:ext cx="415847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altLang="zh-CN" sz="7200" b="1" i="1" cap="none" spc="0" dirty="0">
                <a:ln w="9525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solidFill>
                  <a:schemeClr val="bg2">
                    <a:alpha val="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SHU</a:t>
            </a:r>
            <a:endParaRPr lang="zh-CN" altLang="en-US" sz="7200" b="1" i="1" cap="none" spc="0" dirty="0">
              <a:ln w="9525">
                <a:solidFill>
                  <a:schemeClr val="bg1">
                    <a:lumMod val="85000"/>
                  </a:schemeClr>
                </a:solidFill>
                <a:prstDash val="solid"/>
              </a:ln>
              <a:solidFill>
                <a:schemeClr val="bg2">
                  <a:alpha val="0"/>
                </a:schemeClr>
              </a:solidFill>
              <a:effectLst>
                <a:outerShdw blurRad="38100" dist="22860" dir="5400000" algn="tl" rotWithShape="0">
                  <a:srgbClr val="000000">
                    <a:alpha val="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894" y="243954"/>
            <a:ext cx="2022010" cy="691849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8996681" y="4016472"/>
            <a:ext cx="2905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zh-CN" sz="7200" b="1" i="1" u="none" strike="noStrike" kern="1200" cap="none" spc="0" normalizeH="0" baseline="0" noProof="0" dirty="0">
                <a:ln w="9525">
                  <a:solidFill>
                    <a:prstClr val="white">
                      <a:lumMod val="85000"/>
                    </a:prstClr>
                  </a:solidFill>
                  <a:prstDash val="solid"/>
                </a:ln>
                <a:solidFill>
                  <a:srgbClr val="FFFFFF">
                    <a:alpha val="0"/>
                  </a:srgbClr>
                </a:solidFill>
                <a:effectLst>
                  <a:outerShdw blurRad="38100" dist="22860" dir="5400000" algn="tl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CIMS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6448" y="211429"/>
            <a:ext cx="2022010" cy="691849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0" y="1055785"/>
            <a:ext cx="12192000" cy="0"/>
          </a:xfrm>
          <a:prstGeom prst="line">
            <a:avLst/>
          </a:prstGeom>
          <a:ln w="31750" cmpd="sng">
            <a:solidFill>
              <a:srgbClr val="0D3F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 userDrawn="1"/>
        </p:nvSpPr>
        <p:spPr>
          <a:xfrm>
            <a:off x="0" y="327514"/>
            <a:ext cx="623582" cy="459680"/>
          </a:xfrm>
          <a:prstGeom prst="rect">
            <a:avLst/>
          </a:prstGeom>
          <a:solidFill>
            <a:srgbClr val="0D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77240" y="239588"/>
            <a:ext cx="10515600" cy="7399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D3F7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>
          <a:xfrm>
            <a:off x="9370360" y="6460012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493564" y="1132038"/>
            <a:ext cx="11204871" cy="4811561"/>
          </a:xfrm>
          <a:prstGeom prst="rect">
            <a:avLst/>
          </a:prstGeom>
        </p:spPr>
        <p:txBody>
          <a:bodyPr/>
          <a:lstStyle>
            <a:lvl1pPr marL="431800" indent="-431800"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</a:defRPr>
            </a:lvl1pPr>
            <a:lvl2pPr marL="685800" indent="-431800"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</a:defRPr>
            </a:lvl2pPr>
            <a:lvl3pPr marL="1143000" indent="-431800"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</a:defRPr>
            </a:lvl3pPr>
            <a:lvl4pPr marL="1600200" indent="-431800"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</a:defRPr>
            </a:lvl4pPr>
            <a:lvl5pPr marL="2057400" indent="-431800"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</a:t>
            </a:r>
            <a:endParaRPr lang="zh-CN" altLang="en-US" dirty="0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9239732" y="640422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660659" y="7048012"/>
            <a:ext cx="1062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1369989" y="1877823"/>
            <a:ext cx="8241192" cy="4645362"/>
          </a:xfrm>
          <a:prstGeom prst="roundRect">
            <a:avLst>
              <a:gd name="adj" fmla="val 943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964" y="1912167"/>
            <a:ext cx="297240" cy="297240"/>
          </a:xfrm>
          <a:prstGeom prst="rect">
            <a:avLst/>
          </a:prstGeom>
        </p:spPr>
      </p:pic>
      <p:sp>
        <p:nvSpPr>
          <p:cNvPr id="33" name="文本框 74"/>
          <p:cNvSpPr txBox="1"/>
          <p:nvPr/>
        </p:nvSpPr>
        <p:spPr>
          <a:xfrm>
            <a:off x="1345770" y="2222068"/>
            <a:ext cx="575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SIOPT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Picture 6" descr="Worker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701" y="5962740"/>
            <a:ext cx="261766" cy="26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74"/>
          <p:cNvSpPr txBox="1"/>
          <p:nvPr/>
        </p:nvSpPr>
        <p:spPr>
          <a:xfrm>
            <a:off x="1412448" y="6242654"/>
            <a:ext cx="442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用户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文本框 74"/>
          <p:cNvSpPr txBox="1"/>
          <p:nvPr/>
        </p:nvSpPr>
        <p:spPr>
          <a:xfrm>
            <a:off x="1376097" y="3048735"/>
            <a:ext cx="5149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我的设备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文本框 74"/>
          <p:cNvSpPr txBox="1"/>
          <p:nvPr/>
        </p:nvSpPr>
        <p:spPr>
          <a:xfrm>
            <a:off x="1343138" y="4248387"/>
            <a:ext cx="58089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</a:t>
            </a:r>
            <a:r>
              <a:rPr lang="en-US" altLang="zh-CN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Agent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0" name="文本框 74"/>
          <p:cNvSpPr txBox="1"/>
          <p:nvPr/>
        </p:nvSpPr>
        <p:spPr>
          <a:xfrm>
            <a:off x="1377293" y="5041743"/>
            <a:ext cx="51258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我的知识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1" name="文本框 74"/>
          <p:cNvSpPr txBox="1"/>
          <p:nvPr/>
        </p:nvSpPr>
        <p:spPr>
          <a:xfrm>
            <a:off x="1384626" y="557969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我的工具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Picture 20" descr="data-source-24 Vector Icons free download in SVG, PNG Format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634" y="4854249"/>
            <a:ext cx="263901" cy="17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带形: 前凸弯 5"/>
          <p:cNvSpPr/>
          <p:nvPr/>
        </p:nvSpPr>
        <p:spPr>
          <a:xfrm>
            <a:off x="1542728" y="4023482"/>
            <a:ext cx="181712" cy="152962"/>
          </a:xfrm>
          <a:prstGeom prst="ellipseRibb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太阳形 7"/>
          <p:cNvSpPr/>
          <p:nvPr/>
        </p:nvSpPr>
        <p:spPr>
          <a:xfrm>
            <a:off x="1560833" y="2893190"/>
            <a:ext cx="145503" cy="127284"/>
          </a:xfrm>
          <a:prstGeom prst="su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不等号 13"/>
          <p:cNvSpPr/>
          <p:nvPr/>
        </p:nvSpPr>
        <p:spPr>
          <a:xfrm>
            <a:off x="1511978" y="5402539"/>
            <a:ext cx="243212" cy="180109"/>
          </a:xfrm>
          <a:prstGeom prst="mathNotEqual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398536" y="3305344"/>
            <a:ext cx="522863" cy="511333"/>
          </a:xfrm>
          <a:prstGeom prst="roundRect">
            <a:avLst/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74"/>
          <p:cNvSpPr txBox="1"/>
          <p:nvPr/>
        </p:nvSpPr>
        <p:spPr>
          <a:xfrm>
            <a:off x="1384626" y="358220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我的对话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流程图: 多文档 4"/>
          <p:cNvSpPr/>
          <p:nvPr/>
        </p:nvSpPr>
        <p:spPr>
          <a:xfrm>
            <a:off x="1556990" y="3414764"/>
            <a:ext cx="153188" cy="140726"/>
          </a:xfrm>
          <a:prstGeom prst="flowChartMultidocumen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1896453" y="1935760"/>
            <a:ext cx="7645263" cy="4553115"/>
          </a:xfrm>
          <a:prstGeom prst="roundRect">
            <a:avLst>
              <a:gd name="adj" fmla="val 4460"/>
            </a:avLst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1953244" y="2137472"/>
            <a:ext cx="1528078" cy="321564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十字形 24"/>
          <p:cNvSpPr/>
          <p:nvPr/>
        </p:nvSpPr>
        <p:spPr>
          <a:xfrm>
            <a:off x="2153498" y="2221373"/>
            <a:ext cx="128789" cy="133695"/>
          </a:xfrm>
          <a:prstGeom prst="plus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74"/>
          <p:cNvSpPr txBox="1"/>
          <p:nvPr/>
        </p:nvSpPr>
        <p:spPr>
          <a:xfrm>
            <a:off x="2314132" y="2151259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开启新对话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文本框 74"/>
          <p:cNvSpPr txBox="1"/>
          <p:nvPr/>
        </p:nvSpPr>
        <p:spPr>
          <a:xfrm>
            <a:off x="1921399" y="2542440"/>
            <a:ext cx="522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今天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文本框 74"/>
          <p:cNvSpPr txBox="1"/>
          <p:nvPr/>
        </p:nvSpPr>
        <p:spPr>
          <a:xfrm>
            <a:off x="1921399" y="2830828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钢铁连铸运维知识体系优化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文本框 74"/>
          <p:cNvSpPr txBox="1"/>
          <p:nvPr/>
        </p:nvSpPr>
        <p:spPr>
          <a:xfrm>
            <a:off x="1921399" y="3570173"/>
            <a:ext cx="522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昨天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文本框 74"/>
          <p:cNvSpPr txBox="1"/>
          <p:nvPr/>
        </p:nvSpPr>
        <p:spPr>
          <a:xfrm>
            <a:off x="1924031" y="6119543"/>
            <a:ext cx="5790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七天内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文本框 74"/>
          <p:cNvSpPr txBox="1"/>
          <p:nvPr/>
        </p:nvSpPr>
        <p:spPr>
          <a:xfrm>
            <a:off x="1921399" y="3185205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连铸电机频谱分析，现有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…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文本框 74"/>
          <p:cNvSpPr txBox="1"/>
          <p:nvPr/>
        </p:nvSpPr>
        <p:spPr>
          <a:xfrm>
            <a:off x="1921399" y="3951097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构建钢铁连铸电机运维需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…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3" name="文本框 74"/>
          <p:cNvSpPr txBox="1"/>
          <p:nvPr/>
        </p:nvSpPr>
        <p:spPr>
          <a:xfrm>
            <a:off x="1921399" y="4305474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构建运维大模型语料库方法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文本框 74"/>
          <p:cNvSpPr txBox="1"/>
          <p:nvPr/>
        </p:nvSpPr>
        <p:spPr>
          <a:xfrm>
            <a:off x="1921399" y="4715637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健康状态模型在线部署效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…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5" name="文本框 74"/>
          <p:cNvSpPr txBox="1"/>
          <p:nvPr/>
        </p:nvSpPr>
        <p:spPr>
          <a:xfrm>
            <a:off x="1921399" y="5070014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超参数设置与选择方法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2" name="文本框 74"/>
          <p:cNvSpPr txBox="1"/>
          <p:nvPr/>
        </p:nvSpPr>
        <p:spPr>
          <a:xfrm>
            <a:off x="1921399" y="5418059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连铸铸钢过程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MLF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预测模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...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3" name="文本框 74"/>
          <p:cNvSpPr txBox="1"/>
          <p:nvPr/>
        </p:nvSpPr>
        <p:spPr>
          <a:xfrm>
            <a:off x="1921399" y="5772436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连铸结晶器液面波动异常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…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3644854" y="2094147"/>
            <a:ext cx="3498086" cy="4238326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892" y="3569164"/>
            <a:ext cx="268959" cy="268959"/>
          </a:xfrm>
          <a:prstGeom prst="rect">
            <a:avLst/>
          </a:prstGeom>
        </p:spPr>
      </p:pic>
      <p:sp>
        <p:nvSpPr>
          <p:cNvPr id="57" name="文本框 74"/>
          <p:cNvSpPr txBox="1"/>
          <p:nvPr/>
        </p:nvSpPr>
        <p:spPr>
          <a:xfrm>
            <a:off x="4589851" y="3582207"/>
            <a:ext cx="1783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今天有什么可以帮到你？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755360" y="3896060"/>
            <a:ext cx="3292520" cy="764755"/>
          </a:xfrm>
          <a:prstGeom prst="roundRect">
            <a:avLst>
              <a:gd name="adj" fmla="val 4460"/>
            </a:avLst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文本框 74"/>
          <p:cNvSpPr txBox="1"/>
          <p:nvPr/>
        </p:nvSpPr>
        <p:spPr>
          <a:xfrm>
            <a:off x="3743680" y="3988958"/>
            <a:ext cx="1711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询问任何钢铁领域问题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830769" y="4393566"/>
            <a:ext cx="590310" cy="189087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/>
          <p:cNvSpPr/>
          <p:nvPr/>
        </p:nvSpPr>
        <p:spPr>
          <a:xfrm>
            <a:off x="4509334" y="4393566"/>
            <a:ext cx="590310" cy="189087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74"/>
          <p:cNvSpPr txBox="1"/>
          <p:nvPr/>
        </p:nvSpPr>
        <p:spPr>
          <a:xfrm>
            <a:off x="3981694" y="4401858"/>
            <a:ext cx="50498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深度思考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5" name="文本框 74"/>
          <p:cNvSpPr txBox="1"/>
          <p:nvPr/>
        </p:nvSpPr>
        <p:spPr>
          <a:xfrm>
            <a:off x="4668505" y="4409330"/>
            <a:ext cx="50498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知识库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66" name="Picture 20" descr="data-source-24 Vector Icons free download in SVG, PNG Format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807" y="4435085"/>
            <a:ext cx="168255" cy="111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矩形: 圆角 66"/>
          <p:cNvSpPr/>
          <p:nvPr/>
        </p:nvSpPr>
        <p:spPr>
          <a:xfrm>
            <a:off x="5178974" y="4393566"/>
            <a:ext cx="590310" cy="189087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74"/>
          <p:cNvSpPr txBox="1"/>
          <p:nvPr/>
        </p:nvSpPr>
        <p:spPr>
          <a:xfrm>
            <a:off x="5338145" y="4409330"/>
            <a:ext cx="50498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智能体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0" name="带形: 前凸弯 69"/>
          <p:cNvSpPr/>
          <p:nvPr/>
        </p:nvSpPr>
        <p:spPr>
          <a:xfrm>
            <a:off x="5267592" y="4451615"/>
            <a:ext cx="93706" cy="93665"/>
          </a:xfrm>
          <a:prstGeom prst="ellipseRibb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3933885" y="4409934"/>
            <a:ext cx="57145" cy="156350"/>
            <a:chOff x="600835" y="4117017"/>
            <a:chExt cx="57145" cy="156350"/>
          </a:xfrm>
        </p:grpSpPr>
        <p:sp>
          <p:nvSpPr>
            <p:cNvPr id="73" name="椭圆 72"/>
            <p:cNvSpPr/>
            <p:nvPr/>
          </p:nvSpPr>
          <p:spPr>
            <a:xfrm rot="19057945">
              <a:off x="600835" y="4117017"/>
              <a:ext cx="57143" cy="151120"/>
            </a:xfrm>
            <a:prstGeom prst="ellipse">
              <a:avLst/>
            </a:prstGeom>
            <a:noFill/>
            <a:ln>
              <a:solidFill>
                <a:srgbClr val="9298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 rot="2539344">
              <a:off x="600837" y="4122247"/>
              <a:ext cx="57143" cy="151120"/>
            </a:xfrm>
            <a:prstGeom prst="ellipse">
              <a:avLst/>
            </a:prstGeom>
            <a:noFill/>
            <a:ln>
              <a:solidFill>
                <a:srgbClr val="9298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79" name="任意多边形: 形状 78"/>
          <p:cNvSpPr/>
          <p:nvPr/>
        </p:nvSpPr>
        <p:spPr>
          <a:xfrm>
            <a:off x="6561890" y="4446359"/>
            <a:ext cx="95782" cy="184666"/>
          </a:xfrm>
          <a:custGeom>
            <a:avLst/>
            <a:gdLst>
              <a:gd name="connsiteX0" fmla="*/ 137470 w 334903"/>
              <a:gd name="connsiteY0" fmla="*/ 200213 h 559986"/>
              <a:gd name="connsiteX1" fmla="*/ 141683 w 334903"/>
              <a:gd name="connsiteY1" fmla="*/ 351911 h 559986"/>
              <a:gd name="connsiteX2" fmla="*/ 242815 w 334903"/>
              <a:gd name="connsiteY2" fmla="*/ 356125 h 559986"/>
              <a:gd name="connsiteX3" fmla="*/ 242815 w 334903"/>
              <a:gd name="connsiteY3" fmla="*/ 52729 h 559986"/>
              <a:gd name="connsiteX4" fmla="*/ 23696 w 334903"/>
              <a:gd name="connsiteY4" fmla="*/ 44302 h 559986"/>
              <a:gd name="connsiteX5" fmla="*/ 36338 w 334903"/>
              <a:gd name="connsiteY5" fmla="*/ 499395 h 559986"/>
              <a:gd name="connsiteX6" fmla="*/ 293381 w 334903"/>
              <a:gd name="connsiteY6" fmla="*/ 528892 h 559986"/>
              <a:gd name="connsiteX7" fmla="*/ 331305 w 334903"/>
              <a:gd name="connsiteY7" fmla="*/ 254993 h 55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903" h="559986">
                <a:moveTo>
                  <a:pt x="137470" y="200213"/>
                </a:moveTo>
                <a:cubicBezTo>
                  <a:pt x="130798" y="263069"/>
                  <a:pt x="124126" y="325926"/>
                  <a:pt x="141683" y="351911"/>
                </a:cubicBezTo>
                <a:cubicBezTo>
                  <a:pt x="159240" y="377896"/>
                  <a:pt x="225960" y="405989"/>
                  <a:pt x="242815" y="356125"/>
                </a:cubicBezTo>
                <a:cubicBezTo>
                  <a:pt x="259670" y="306261"/>
                  <a:pt x="279335" y="104699"/>
                  <a:pt x="242815" y="52729"/>
                </a:cubicBezTo>
                <a:cubicBezTo>
                  <a:pt x="206295" y="758"/>
                  <a:pt x="58109" y="-30142"/>
                  <a:pt x="23696" y="44302"/>
                </a:cubicBezTo>
                <a:cubicBezTo>
                  <a:pt x="-10717" y="118746"/>
                  <a:pt x="-8610" y="418630"/>
                  <a:pt x="36338" y="499395"/>
                </a:cubicBezTo>
                <a:cubicBezTo>
                  <a:pt x="81285" y="580160"/>
                  <a:pt x="244220" y="569626"/>
                  <a:pt x="293381" y="528892"/>
                </a:cubicBezTo>
                <a:cubicBezTo>
                  <a:pt x="342542" y="488158"/>
                  <a:pt x="336923" y="371575"/>
                  <a:pt x="331305" y="254993"/>
                </a:cubicBezTo>
              </a:path>
            </a:pathLst>
          </a:custGeom>
          <a:noFill/>
          <a:ln>
            <a:solidFill>
              <a:srgbClr val="D2D2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6769752" y="4436737"/>
            <a:ext cx="166048" cy="184666"/>
            <a:chOff x="260766" y="3308950"/>
            <a:chExt cx="197988" cy="240099"/>
          </a:xfrm>
        </p:grpSpPr>
        <p:sp>
          <p:nvSpPr>
            <p:cNvPr id="80" name="椭圆 79"/>
            <p:cNvSpPr/>
            <p:nvPr/>
          </p:nvSpPr>
          <p:spPr>
            <a:xfrm>
              <a:off x="260766" y="3308950"/>
              <a:ext cx="197988" cy="240099"/>
            </a:xfrm>
            <a:prstGeom prst="ellipse">
              <a:avLst/>
            </a:prstGeom>
            <a:no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箭头连接符 81"/>
            <p:cNvCxnSpPr/>
            <p:nvPr/>
          </p:nvCxnSpPr>
          <p:spPr>
            <a:xfrm flipV="1">
              <a:off x="359760" y="3328905"/>
              <a:ext cx="0" cy="181363"/>
            </a:xfrm>
            <a:prstGeom prst="straightConnector1">
              <a:avLst/>
            </a:prstGeom>
            <a:ln w="19050">
              <a:solidFill>
                <a:srgbClr val="D9D9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文本框 74"/>
          <p:cNvSpPr txBox="1"/>
          <p:nvPr/>
        </p:nvSpPr>
        <p:spPr>
          <a:xfrm>
            <a:off x="7253100" y="2108132"/>
            <a:ext cx="11054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SIOPT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过程信息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5" name="笑脸 84"/>
          <p:cNvSpPr/>
          <p:nvPr/>
        </p:nvSpPr>
        <p:spPr>
          <a:xfrm>
            <a:off x="7341625" y="2450650"/>
            <a:ext cx="164353" cy="152149"/>
          </a:xfrm>
          <a:prstGeom prst="smileyFace">
            <a:avLst/>
          </a:prstGeom>
          <a:noFill/>
          <a:ln>
            <a:solidFill>
              <a:srgbClr val="CBCC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74"/>
          <p:cNvSpPr txBox="1"/>
          <p:nvPr/>
        </p:nvSpPr>
        <p:spPr>
          <a:xfrm>
            <a:off x="7458420" y="2419002"/>
            <a:ext cx="694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思考结果</a:t>
            </a:r>
            <a:endParaRPr lang="zh-CN" altLang="en-US" sz="8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7293208" y="2672139"/>
            <a:ext cx="2130935" cy="2992141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7334518" y="5935188"/>
            <a:ext cx="2070185" cy="321564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74"/>
          <p:cNvSpPr txBox="1"/>
          <p:nvPr/>
        </p:nvSpPr>
        <p:spPr>
          <a:xfrm>
            <a:off x="7994949" y="5947507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知识存储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箭头: 虚尾 12"/>
          <p:cNvSpPr/>
          <p:nvPr/>
        </p:nvSpPr>
        <p:spPr>
          <a:xfrm rot="5400000">
            <a:off x="7865454" y="6034476"/>
            <a:ext cx="184562" cy="142519"/>
          </a:xfrm>
          <a:prstGeom prst="stripedRightArrow">
            <a:avLst/>
          </a:prstGeom>
          <a:noFill/>
          <a:ln w="6350">
            <a:solidFill>
              <a:srgbClr val="8F9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</a:t>
            </a:r>
            <a:endParaRPr lang="zh-CN" altLang="en-US" dirty="0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9239732" y="640422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660659" y="7048012"/>
            <a:ext cx="1062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1369989" y="1877823"/>
            <a:ext cx="8241192" cy="4645362"/>
          </a:xfrm>
          <a:prstGeom prst="roundRect">
            <a:avLst>
              <a:gd name="adj" fmla="val 943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964" y="1912167"/>
            <a:ext cx="297240" cy="297240"/>
          </a:xfrm>
          <a:prstGeom prst="rect">
            <a:avLst/>
          </a:prstGeom>
        </p:spPr>
      </p:pic>
      <p:sp>
        <p:nvSpPr>
          <p:cNvPr id="33" name="文本框 74"/>
          <p:cNvSpPr txBox="1"/>
          <p:nvPr/>
        </p:nvSpPr>
        <p:spPr>
          <a:xfrm>
            <a:off x="1345770" y="2222068"/>
            <a:ext cx="575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SIOPT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Picture 6" descr="Worker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701" y="5962740"/>
            <a:ext cx="261766" cy="26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74"/>
          <p:cNvSpPr txBox="1"/>
          <p:nvPr/>
        </p:nvSpPr>
        <p:spPr>
          <a:xfrm>
            <a:off x="1412448" y="6242654"/>
            <a:ext cx="442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用户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文本框 74"/>
          <p:cNvSpPr txBox="1"/>
          <p:nvPr/>
        </p:nvSpPr>
        <p:spPr>
          <a:xfrm>
            <a:off x="1376097" y="3048735"/>
            <a:ext cx="5149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我的设备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文本框 74"/>
          <p:cNvSpPr txBox="1"/>
          <p:nvPr/>
        </p:nvSpPr>
        <p:spPr>
          <a:xfrm>
            <a:off x="1343138" y="4248387"/>
            <a:ext cx="58089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</a:t>
            </a:r>
            <a:r>
              <a:rPr lang="en-US" altLang="zh-CN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Agent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1" name="文本框 74"/>
          <p:cNvSpPr txBox="1"/>
          <p:nvPr/>
        </p:nvSpPr>
        <p:spPr>
          <a:xfrm>
            <a:off x="1384626" y="557969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我的工具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带形: 前凸弯 5"/>
          <p:cNvSpPr/>
          <p:nvPr/>
        </p:nvSpPr>
        <p:spPr>
          <a:xfrm>
            <a:off x="1542728" y="4023482"/>
            <a:ext cx="181712" cy="152962"/>
          </a:xfrm>
          <a:prstGeom prst="ellipseRibb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太阳形 7"/>
          <p:cNvSpPr/>
          <p:nvPr/>
        </p:nvSpPr>
        <p:spPr>
          <a:xfrm>
            <a:off x="1560833" y="2893190"/>
            <a:ext cx="145503" cy="127284"/>
          </a:xfrm>
          <a:prstGeom prst="su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不等号 13"/>
          <p:cNvSpPr/>
          <p:nvPr/>
        </p:nvSpPr>
        <p:spPr>
          <a:xfrm>
            <a:off x="1511978" y="5402539"/>
            <a:ext cx="243212" cy="180109"/>
          </a:xfrm>
          <a:prstGeom prst="mathNotEqual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74"/>
          <p:cNvSpPr txBox="1"/>
          <p:nvPr/>
        </p:nvSpPr>
        <p:spPr>
          <a:xfrm>
            <a:off x="1384626" y="358220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我的对话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流程图: 多文档 4"/>
          <p:cNvSpPr/>
          <p:nvPr/>
        </p:nvSpPr>
        <p:spPr>
          <a:xfrm>
            <a:off x="1556990" y="3414764"/>
            <a:ext cx="153188" cy="140726"/>
          </a:xfrm>
          <a:prstGeom prst="flowChartMultidocumen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1896453" y="1935760"/>
            <a:ext cx="7645263" cy="4553115"/>
          </a:xfrm>
          <a:prstGeom prst="roundRect">
            <a:avLst>
              <a:gd name="adj" fmla="val 4460"/>
            </a:avLst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1982351" y="2013154"/>
            <a:ext cx="1528078" cy="321564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74"/>
          <p:cNvSpPr txBox="1"/>
          <p:nvPr/>
        </p:nvSpPr>
        <p:spPr>
          <a:xfrm>
            <a:off x="2310163" y="2031176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更新历史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文本框 74"/>
          <p:cNvSpPr txBox="1"/>
          <p:nvPr/>
        </p:nvSpPr>
        <p:spPr>
          <a:xfrm>
            <a:off x="1921399" y="2504514"/>
            <a:ext cx="522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今天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文本框 74"/>
          <p:cNvSpPr txBox="1"/>
          <p:nvPr/>
        </p:nvSpPr>
        <p:spPr>
          <a:xfrm>
            <a:off x="1921399" y="2792902"/>
            <a:ext cx="17117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事件：电机运维知识库更新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时间：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2025-10-09 08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23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22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更新内容：增加轧辊电机出现轴承断裂数据特征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文本框 74"/>
          <p:cNvSpPr txBox="1"/>
          <p:nvPr/>
        </p:nvSpPr>
        <p:spPr>
          <a:xfrm>
            <a:off x="1940772" y="4772933"/>
            <a:ext cx="5790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七天内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3674907" y="2662611"/>
            <a:ext cx="1605572" cy="1504305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文本框 74"/>
          <p:cNvSpPr txBox="1"/>
          <p:nvPr/>
        </p:nvSpPr>
        <p:spPr>
          <a:xfrm>
            <a:off x="7581026" y="2333989"/>
            <a:ext cx="694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查询结果</a:t>
            </a:r>
            <a:endParaRPr lang="zh-CN" altLang="en-US" sz="8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7317625" y="2616648"/>
            <a:ext cx="2090934" cy="1949445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7332319" y="4645265"/>
            <a:ext cx="2070185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74"/>
          <p:cNvSpPr txBox="1"/>
          <p:nvPr/>
        </p:nvSpPr>
        <p:spPr>
          <a:xfrm>
            <a:off x="8046792" y="4671128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知识更新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箭头: 虚尾 12"/>
          <p:cNvSpPr/>
          <p:nvPr/>
        </p:nvSpPr>
        <p:spPr>
          <a:xfrm rot="10800000">
            <a:off x="7874191" y="4746900"/>
            <a:ext cx="184562" cy="142519"/>
          </a:xfrm>
          <a:prstGeom prst="stripedRightArrow">
            <a:avLst/>
          </a:prstGeom>
          <a:noFill/>
          <a:ln w="6350">
            <a:solidFill>
              <a:srgbClr val="8F9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1397601" y="4792017"/>
            <a:ext cx="522863" cy="511333"/>
          </a:xfrm>
          <a:prstGeom prst="roundRect">
            <a:avLst/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74"/>
          <p:cNvSpPr txBox="1"/>
          <p:nvPr/>
        </p:nvSpPr>
        <p:spPr>
          <a:xfrm>
            <a:off x="1377293" y="5041743"/>
            <a:ext cx="51258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我的知识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Picture 20" descr="data-source-24 Vector Icons free download in SVG, PNG Format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634" y="4854249"/>
            <a:ext cx="263901" cy="17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: 圆角 16"/>
          <p:cNvSpPr/>
          <p:nvPr/>
        </p:nvSpPr>
        <p:spPr>
          <a:xfrm>
            <a:off x="5497519" y="2662611"/>
            <a:ext cx="1605572" cy="1504305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>
            <a:off x="3674907" y="4805074"/>
            <a:ext cx="1605572" cy="1504305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/>
          <p:cNvSpPr/>
          <p:nvPr/>
        </p:nvSpPr>
        <p:spPr>
          <a:xfrm>
            <a:off x="5500585" y="4822345"/>
            <a:ext cx="1605572" cy="1504305"/>
          </a:xfrm>
          <a:prstGeom prst="roundRect">
            <a:avLst>
              <a:gd name="adj" fmla="val 4534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: 圆角 20"/>
          <p:cNvSpPr/>
          <p:nvPr/>
        </p:nvSpPr>
        <p:spPr>
          <a:xfrm>
            <a:off x="7332319" y="5061393"/>
            <a:ext cx="2070185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20" descr="data-source-24 Vector Icons free download in SVG, PNG Format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046" y="2362643"/>
            <a:ext cx="263901" cy="17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74"/>
          <p:cNvSpPr txBox="1"/>
          <p:nvPr/>
        </p:nvSpPr>
        <p:spPr>
          <a:xfrm>
            <a:off x="8075406" y="5085515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创建新知识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流程图: 对照 28"/>
          <p:cNvSpPr/>
          <p:nvPr/>
        </p:nvSpPr>
        <p:spPr>
          <a:xfrm>
            <a:off x="7881581" y="5160481"/>
            <a:ext cx="173464" cy="123110"/>
          </a:xfrm>
          <a:prstGeom prst="flowChartCollate">
            <a:avLst/>
          </a:prstGeom>
          <a:noFill/>
          <a:ln>
            <a:solidFill>
              <a:srgbClr val="848B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809134" y="2366498"/>
            <a:ext cx="12599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电机运维知识库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53170" y="2363620"/>
            <a:ext cx="17776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连铸中间包运维知识库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58058" y="4468739"/>
            <a:ext cx="1562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连铸转包运维知识库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415143" y="4468739"/>
            <a:ext cx="17693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连铸拉直机运维知识库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8732" y="2862453"/>
            <a:ext cx="1156424" cy="121289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1019" y="2808087"/>
            <a:ext cx="1163722" cy="1267256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0563" y="4938602"/>
            <a:ext cx="1271350" cy="1278131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84420" y="5041743"/>
            <a:ext cx="1452451" cy="1132006"/>
          </a:xfrm>
          <a:prstGeom prst="rect">
            <a:avLst/>
          </a:prstGeom>
        </p:spPr>
      </p:pic>
      <p:sp>
        <p:nvSpPr>
          <p:cNvPr id="81" name="文本框 74"/>
          <p:cNvSpPr txBox="1"/>
          <p:nvPr/>
        </p:nvSpPr>
        <p:spPr>
          <a:xfrm>
            <a:off x="1914557" y="3860750"/>
            <a:ext cx="17117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事件：电机运维知识库更新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时间：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2025-10-09 10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30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21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更新内容：增加轧辊电机出现外圈故障数据特征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8" name="文本框 74"/>
          <p:cNvSpPr txBox="1"/>
          <p:nvPr/>
        </p:nvSpPr>
        <p:spPr>
          <a:xfrm>
            <a:off x="1943853" y="3628421"/>
            <a:ext cx="522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昨天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文本框 74"/>
          <p:cNvSpPr txBox="1"/>
          <p:nvPr/>
        </p:nvSpPr>
        <p:spPr>
          <a:xfrm>
            <a:off x="1880437" y="5023780"/>
            <a:ext cx="17117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事件：创建新知识库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时间：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2025-10-05 07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46</a:t>
            </a:r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13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更新内容：创建电机运维知识库</a:t>
            </a:r>
            <a:endParaRPr lang="zh-CN" altLang="en-US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0" name="文本框 74"/>
          <p:cNvSpPr txBox="1"/>
          <p:nvPr/>
        </p:nvSpPr>
        <p:spPr>
          <a:xfrm>
            <a:off x="1897139" y="5986525"/>
            <a:ext cx="17117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事件：创建新知识库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…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7323681" y="5501443"/>
            <a:ext cx="2070185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74"/>
          <p:cNvSpPr txBox="1"/>
          <p:nvPr/>
        </p:nvSpPr>
        <p:spPr>
          <a:xfrm>
            <a:off x="8066768" y="5525565"/>
            <a:ext cx="1172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查看历史版本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7317625" y="5952831"/>
            <a:ext cx="2070185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74"/>
          <p:cNvSpPr txBox="1"/>
          <p:nvPr/>
        </p:nvSpPr>
        <p:spPr>
          <a:xfrm>
            <a:off x="8060712" y="5976953"/>
            <a:ext cx="1172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删除知识库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7" name="箭头: 手杖形 96"/>
          <p:cNvSpPr/>
          <p:nvPr/>
        </p:nvSpPr>
        <p:spPr>
          <a:xfrm>
            <a:off x="7916950" y="5563073"/>
            <a:ext cx="149818" cy="224638"/>
          </a:xfrm>
          <a:prstGeom prst="uturnArrow">
            <a:avLst/>
          </a:prstGeom>
          <a:noFill/>
          <a:ln>
            <a:solidFill>
              <a:srgbClr val="8F97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乘号 97"/>
          <p:cNvSpPr/>
          <p:nvPr/>
        </p:nvSpPr>
        <p:spPr>
          <a:xfrm>
            <a:off x="7881581" y="5985024"/>
            <a:ext cx="206583" cy="268928"/>
          </a:xfrm>
          <a:prstGeom prst="mathMultiply">
            <a:avLst/>
          </a:prstGeom>
          <a:solidFill>
            <a:srgbClr val="8F96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/>
          <p:cNvSpPr/>
          <p:nvPr/>
        </p:nvSpPr>
        <p:spPr>
          <a:xfrm>
            <a:off x="7330900" y="2013154"/>
            <a:ext cx="1472886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74"/>
          <p:cNvSpPr txBox="1"/>
          <p:nvPr/>
        </p:nvSpPr>
        <p:spPr>
          <a:xfrm>
            <a:off x="7726936" y="2035435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知识查询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535355" y="2083337"/>
            <a:ext cx="189622" cy="181194"/>
            <a:chOff x="358175" y="1403204"/>
            <a:chExt cx="189622" cy="181194"/>
          </a:xfrm>
        </p:grpSpPr>
        <p:sp>
          <p:nvSpPr>
            <p:cNvPr id="102" name="椭圆 101"/>
            <p:cNvSpPr/>
            <p:nvPr/>
          </p:nvSpPr>
          <p:spPr>
            <a:xfrm>
              <a:off x="358175" y="1403204"/>
              <a:ext cx="130629" cy="126414"/>
            </a:xfrm>
            <a:prstGeom prst="ellipse">
              <a:avLst/>
            </a:prstGeom>
            <a:noFill/>
            <a:ln>
              <a:solidFill>
                <a:srgbClr val="848B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/>
            <p:cNvCxnSpPr>
              <a:stCxn id="102" idx="5"/>
            </p:cNvCxnSpPr>
            <p:nvPr/>
          </p:nvCxnSpPr>
          <p:spPr>
            <a:xfrm>
              <a:off x="469674" y="1511105"/>
              <a:ext cx="78123" cy="73293"/>
            </a:xfrm>
            <a:prstGeom prst="line">
              <a:avLst/>
            </a:prstGeom>
            <a:noFill/>
            <a:ln>
              <a:solidFill>
                <a:srgbClr val="848B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</a:t>
            </a:r>
            <a:endParaRPr lang="zh-CN" altLang="en-US" dirty="0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9239732" y="640422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660659" y="7048012"/>
            <a:ext cx="1062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1369989" y="1877823"/>
            <a:ext cx="8241192" cy="4645362"/>
          </a:xfrm>
          <a:prstGeom prst="roundRect">
            <a:avLst>
              <a:gd name="adj" fmla="val 943"/>
            </a:avLst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964" y="1912167"/>
            <a:ext cx="297240" cy="297240"/>
          </a:xfrm>
          <a:prstGeom prst="rect">
            <a:avLst/>
          </a:prstGeom>
        </p:spPr>
      </p:pic>
      <p:sp>
        <p:nvSpPr>
          <p:cNvPr id="33" name="文本框 74"/>
          <p:cNvSpPr txBox="1"/>
          <p:nvPr/>
        </p:nvSpPr>
        <p:spPr>
          <a:xfrm>
            <a:off x="1345770" y="2222068"/>
            <a:ext cx="575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SIOPT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Picture 6" descr="Worker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701" y="5962740"/>
            <a:ext cx="261766" cy="26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74"/>
          <p:cNvSpPr txBox="1"/>
          <p:nvPr/>
        </p:nvSpPr>
        <p:spPr>
          <a:xfrm>
            <a:off x="1412448" y="6242654"/>
            <a:ext cx="442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用户</a:t>
            </a:r>
            <a:endParaRPr lang="zh-CN" altLang="en-US" sz="10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文本框 74"/>
          <p:cNvSpPr txBox="1"/>
          <p:nvPr/>
        </p:nvSpPr>
        <p:spPr>
          <a:xfrm>
            <a:off x="1376097" y="3048735"/>
            <a:ext cx="5149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我的设备</a:t>
            </a:r>
            <a:endParaRPr lang="zh-CN" altLang="en-US" sz="6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文本框 74"/>
          <p:cNvSpPr txBox="1"/>
          <p:nvPr/>
        </p:nvSpPr>
        <p:spPr>
          <a:xfrm>
            <a:off x="1343138" y="4248387"/>
            <a:ext cx="58089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</a:t>
            </a:r>
            <a:r>
              <a:rPr lang="en-US" altLang="zh-CN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Agent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带形: 前凸弯 5"/>
          <p:cNvSpPr/>
          <p:nvPr/>
        </p:nvSpPr>
        <p:spPr>
          <a:xfrm>
            <a:off x="1542728" y="4023482"/>
            <a:ext cx="181712" cy="152962"/>
          </a:xfrm>
          <a:prstGeom prst="ellipseRibb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太阳形 7"/>
          <p:cNvSpPr/>
          <p:nvPr/>
        </p:nvSpPr>
        <p:spPr>
          <a:xfrm>
            <a:off x="1560833" y="2893190"/>
            <a:ext cx="145503" cy="127284"/>
          </a:xfrm>
          <a:prstGeom prst="su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文本框 74"/>
          <p:cNvSpPr txBox="1"/>
          <p:nvPr/>
        </p:nvSpPr>
        <p:spPr>
          <a:xfrm>
            <a:off x="1384626" y="358220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我的对话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流程图: 多文档 4"/>
          <p:cNvSpPr/>
          <p:nvPr/>
        </p:nvSpPr>
        <p:spPr>
          <a:xfrm>
            <a:off x="1556990" y="3414764"/>
            <a:ext cx="153188" cy="140726"/>
          </a:xfrm>
          <a:prstGeom prst="flowChartMultidocumen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1896453" y="1935760"/>
            <a:ext cx="7645263" cy="4553115"/>
          </a:xfrm>
          <a:prstGeom prst="roundRect">
            <a:avLst>
              <a:gd name="adj" fmla="val 4460"/>
            </a:avLst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2286646" y="2857432"/>
            <a:ext cx="1604445" cy="321564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知识检索工具</a:t>
            </a:r>
            <a:endParaRPr lang="zh-CN" altLang="en-US" sz="1200" dirty="0"/>
          </a:p>
        </p:txBody>
      </p:sp>
      <p:sp>
        <p:nvSpPr>
          <p:cNvPr id="55" name="矩形: 圆角 54"/>
          <p:cNvSpPr/>
          <p:nvPr/>
        </p:nvSpPr>
        <p:spPr>
          <a:xfrm>
            <a:off x="2285520" y="3271329"/>
            <a:ext cx="1605572" cy="1504305"/>
          </a:xfrm>
          <a:prstGeom prst="roundRect">
            <a:avLst>
              <a:gd name="adj" fmla="val 453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4657506" y="2222068"/>
            <a:ext cx="1472886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74"/>
          <p:cNvSpPr txBox="1"/>
          <p:nvPr/>
        </p:nvSpPr>
        <p:spPr>
          <a:xfrm>
            <a:off x="5053542" y="2244349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新建工具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397601" y="5301889"/>
            <a:ext cx="522863" cy="511333"/>
          </a:xfrm>
          <a:prstGeom prst="roundRect">
            <a:avLst/>
          </a:prstGeom>
          <a:solidFill>
            <a:srgbClr val="1A2B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74"/>
          <p:cNvSpPr txBox="1"/>
          <p:nvPr/>
        </p:nvSpPr>
        <p:spPr>
          <a:xfrm>
            <a:off x="1377293" y="5041743"/>
            <a:ext cx="51258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我的知识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Picture 20" descr="data-source-24 Vector Icons free download in SVG, PNG Format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634" y="4854249"/>
            <a:ext cx="263901" cy="17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文本框 74"/>
          <p:cNvSpPr txBox="1"/>
          <p:nvPr/>
        </p:nvSpPr>
        <p:spPr>
          <a:xfrm>
            <a:off x="1384626" y="5579697"/>
            <a:ext cx="4979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我的工具</a:t>
            </a:r>
            <a:endParaRPr lang="zh-CN" altLang="en-US" sz="6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不等号 13"/>
          <p:cNvSpPr/>
          <p:nvPr/>
        </p:nvSpPr>
        <p:spPr>
          <a:xfrm>
            <a:off x="1511978" y="5402539"/>
            <a:ext cx="243212" cy="180109"/>
          </a:xfrm>
          <a:prstGeom prst="mathNotEqual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加号 14"/>
          <p:cNvSpPr/>
          <p:nvPr/>
        </p:nvSpPr>
        <p:spPr>
          <a:xfrm>
            <a:off x="4855620" y="2277531"/>
            <a:ext cx="237495" cy="210637"/>
          </a:xfrm>
          <a:prstGeom prst="mathPlus">
            <a:avLst/>
          </a:prstGeom>
          <a:solidFill>
            <a:srgbClr val="848B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6217429" y="2222068"/>
            <a:ext cx="1472886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74"/>
          <p:cNvSpPr txBox="1"/>
          <p:nvPr/>
        </p:nvSpPr>
        <p:spPr>
          <a:xfrm>
            <a:off x="6613465" y="2244349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工具搜索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870813" y="2238516"/>
            <a:ext cx="1472886" cy="321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74"/>
          <p:cNvSpPr txBox="1"/>
          <p:nvPr/>
        </p:nvSpPr>
        <p:spPr>
          <a:xfrm>
            <a:off x="8266849" y="2260797"/>
            <a:ext cx="10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删除工具</a:t>
            </a:r>
            <a:endParaRPr lang="zh-CN" altLang="en-US" sz="1200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3" name="乘号 42"/>
          <p:cNvSpPr/>
          <p:nvPr/>
        </p:nvSpPr>
        <p:spPr>
          <a:xfrm>
            <a:off x="8073309" y="2276295"/>
            <a:ext cx="206583" cy="268928"/>
          </a:xfrm>
          <a:prstGeom prst="mathMultiply">
            <a:avLst/>
          </a:prstGeom>
          <a:solidFill>
            <a:srgbClr val="8F96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6421884" y="2292251"/>
            <a:ext cx="189622" cy="181194"/>
            <a:chOff x="358175" y="1403204"/>
            <a:chExt cx="189622" cy="181194"/>
          </a:xfrm>
        </p:grpSpPr>
        <p:sp>
          <p:nvSpPr>
            <p:cNvPr id="44" name="椭圆 43"/>
            <p:cNvSpPr/>
            <p:nvPr/>
          </p:nvSpPr>
          <p:spPr>
            <a:xfrm>
              <a:off x="358175" y="1403204"/>
              <a:ext cx="130629" cy="126414"/>
            </a:xfrm>
            <a:prstGeom prst="ellipse">
              <a:avLst/>
            </a:prstGeom>
            <a:noFill/>
            <a:ln>
              <a:solidFill>
                <a:srgbClr val="848B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>
              <a:stCxn id="44" idx="5"/>
            </p:cNvCxnSpPr>
            <p:nvPr/>
          </p:nvCxnSpPr>
          <p:spPr>
            <a:xfrm>
              <a:off x="469674" y="1511105"/>
              <a:ext cx="78123" cy="73293"/>
            </a:xfrm>
            <a:prstGeom prst="line">
              <a:avLst/>
            </a:prstGeom>
            <a:noFill/>
            <a:ln>
              <a:solidFill>
                <a:srgbClr val="848B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9" name="矩形: 圆角 58"/>
          <p:cNvSpPr/>
          <p:nvPr/>
        </p:nvSpPr>
        <p:spPr>
          <a:xfrm>
            <a:off x="4309172" y="2859692"/>
            <a:ext cx="1604445" cy="321564"/>
          </a:xfrm>
          <a:prstGeom prst="roundRect">
            <a:avLst/>
          </a:prstGeom>
          <a:solidFill>
            <a:srgbClr val="3242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时频特征分析工具</a:t>
            </a:r>
            <a:endParaRPr lang="zh-CN" altLang="en-US" sz="1200" dirty="0"/>
          </a:p>
        </p:txBody>
      </p:sp>
      <p:sp>
        <p:nvSpPr>
          <p:cNvPr id="60" name="矩形: 圆角 59"/>
          <p:cNvSpPr/>
          <p:nvPr/>
        </p:nvSpPr>
        <p:spPr>
          <a:xfrm>
            <a:off x="4308046" y="3273589"/>
            <a:ext cx="1605572" cy="1504305"/>
          </a:xfrm>
          <a:prstGeom prst="roundRect">
            <a:avLst>
              <a:gd name="adj" fmla="val 453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061" y="3429000"/>
            <a:ext cx="746635" cy="406397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14" y="3432609"/>
            <a:ext cx="746635" cy="402758"/>
          </a:xfrm>
          <a:prstGeom prst="rect">
            <a:avLst/>
          </a:prstGeom>
        </p:spPr>
      </p:pic>
      <p:sp>
        <p:nvSpPr>
          <p:cNvPr id="68" name="文本框 74"/>
          <p:cNvSpPr txBox="1"/>
          <p:nvPr/>
        </p:nvSpPr>
        <p:spPr>
          <a:xfrm>
            <a:off x="2286646" y="4023481"/>
            <a:ext cx="16044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名称：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KRT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用途：辅助大语言模型知识检索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9" name="文本框 74"/>
          <p:cNvSpPr txBox="1"/>
          <p:nvPr/>
        </p:nvSpPr>
        <p:spPr>
          <a:xfrm>
            <a:off x="4308045" y="4028177"/>
            <a:ext cx="16109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名称：</a:t>
            </a:r>
            <a:r>
              <a:rPr lang="en-US" altLang="zh-CN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TFCAT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000" b="1" dirty="0">
                <a:solidFill>
                  <a:schemeClr val="bg2">
                    <a:lumMod val="95000"/>
                  </a:schemeClr>
                </a:solidFill>
                <a:latin typeface="+mj-ea"/>
                <a:ea typeface="+mj-ea"/>
              </a:rPr>
              <a:t>用途：计算信号时频特征，包括峰值、均方根值等</a:t>
            </a:r>
            <a:endParaRPr lang="en-US" altLang="zh-CN" sz="1000" b="1" dirty="0">
              <a:solidFill>
                <a:schemeClr val="bg2">
                  <a:lumMod val="9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WPS 演示</Application>
  <PresentationFormat>宽屏</PresentationFormat>
  <Paragraphs>153</Paragraphs>
  <Slides>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Optima-Regular</vt:lpstr>
      <vt:lpstr>Segoe Print</vt:lpstr>
      <vt:lpstr>Arial</vt:lpstr>
      <vt:lpstr>等线</vt:lpstr>
      <vt:lpstr>Arial Unicode MS</vt:lpstr>
      <vt:lpstr>Times New Roman</vt:lpstr>
      <vt:lpstr>Office 主题​​</vt:lpstr>
      <vt:lpstr>研究方案</vt:lpstr>
      <vt:lpstr>研究方案</vt:lpstr>
      <vt:lpstr>研究方案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组会汇报</dc:title>
  <dc:creator>云杰 潘</dc:creator>
  <cp:lastModifiedBy>风领</cp:lastModifiedBy>
  <cp:revision>357</cp:revision>
  <dcterms:created xsi:type="dcterms:W3CDTF">2023-07-10T04:21:00Z</dcterms:created>
  <dcterms:modified xsi:type="dcterms:W3CDTF">2025-12-14T08:45:16Z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A406980429454C4EBD3231FEBEFB7D77_12</vt:lpwstr>
  </property>
  <property fmtid="{D5CDD505-2E9C-101B-9397-08002B2CF9AE}" pid="3" name="KSOProductBuildVer">
    <vt:lpwstr>2052-12.1.0.24034</vt:lpwstr>
  </property>
</Properties>
</file>